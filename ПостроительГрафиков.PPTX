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33AC8F8-4108-48FC-9303-B1F786C2BBE5}" type="datetimeFigureOut">
              <a:rPr lang="ru-RU" smtClean="0"/>
              <a:t>09.12.2021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E4891AEE-7BC3-4F0C-9639-F39C103B4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9509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AC8F8-4108-48FC-9303-B1F786C2BBE5}" type="datetimeFigureOut">
              <a:rPr lang="ru-RU" smtClean="0"/>
              <a:t>09.12.2021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91AEE-7BC3-4F0C-9639-F39C103B4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3997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AC8F8-4108-48FC-9303-B1F786C2BBE5}" type="datetimeFigureOut">
              <a:rPr lang="ru-RU" smtClean="0"/>
              <a:t>09.12.2021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91AEE-7BC3-4F0C-9639-F39C103B4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8762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AC8F8-4108-48FC-9303-B1F786C2BBE5}" type="datetimeFigureOut">
              <a:rPr lang="ru-RU" smtClean="0"/>
              <a:t>09.12.2021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91AEE-7BC3-4F0C-9639-F39C103B4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4975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AC8F8-4108-48FC-9303-B1F786C2BBE5}" type="datetimeFigureOut">
              <a:rPr lang="ru-RU" smtClean="0"/>
              <a:t>09.12.2021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91AEE-7BC3-4F0C-9639-F39C103B4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55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AC8F8-4108-48FC-9303-B1F786C2BBE5}" type="datetimeFigureOut">
              <a:rPr lang="ru-RU" smtClean="0"/>
              <a:t>09.12.2021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91AEE-7BC3-4F0C-9639-F39C103B4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2385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AC8F8-4108-48FC-9303-B1F786C2BBE5}" type="datetimeFigureOut">
              <a:rPr lang="ru-RU" smtClean="0"/>
              <a:t>09.12.2021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91AEE-7BC3-4F0C-9639-F39C103B4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1597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AC8F8-4108-48FC-9303-B1F786C2BBE5}" type="datetimeFigureOut">
              <a:rPr lang="ru-RU" smtClean="0"/>
              <a:t>09.12.2021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91AEE-7BC3-4F0C-9639-F39C103B4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2579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AC8F8-4108-48FC-9303-B1F786C2BBE5}" type="datetimeFigureOut">
              <a:rPr lang="ru-RU" smtClean="0"/>
              <a:t>09.12.2021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91AEE-7BC3-4F0C-9639-F39C103B4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5022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AC8F8-4108-48FC-9303-B1F786C2BBE5}" type="datetimeFigureOut">
              <a:rPr lang="ru-RU" smtClean="0"/>
              <a:t>09.12.2021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91AEE-7BC3-4F0C-9639-F39C103B4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4834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AC8F8-4108-48FC-9303-B1F786C2BBE5}" type="datetimeFigureOut">
              <a:rPr lang="ru-RU" smtClean="0"/>
              <a:t>09.12.2021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91AEE-7BC3-4F0C-9639-F39C103B4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075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AC8F8-4108-48FC-9303-B1F786C2BBE5}" type="datetimeFigureOut">
              <a:rPr lang="ru-RU" smtClean="0"/>
              <a:t>09.12.2021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91AEE-7BC3-4F0C-9639-F39C103B4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576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AC8F8-4108-48FC-9303-B1F786C2BBE5}" type="datetimeFigureOut">
              <a:rPr lang="ru-RU" smtClean="0"/>
              <a:t>09.12.2021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91AEE-7BC3-4F0C-9639-F39C103B4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40905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AC8F8-4108-48FC-9303-B1F786C2BBE5}" type="datetimeFigureOut">
              <a:rPr lang="ru-RU" smtClean="0"/>
              <a:t>09.12.2021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91AEE-7BC3-4F0C-9639-F39C103B4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15265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AC8F8-4108-48FC-9303-B1F786C2BBE5}" type="datetimeFigureOut">
              <a:rPr lang="ru-RU" smtClean="0"/>
              <a:t>09.12.2021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91AEE-7BC3-4F0C-9639-F39C103B4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05045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733AC8F8-4108-48FC-9303-B1F786C2BBE5}" type="datetimeFigureOut">
              <a:rPr lang="ru-RU" smtClean="0"/>
              <a:t>09.12.2021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91AEE-7BC3-4F0C-9639-F39C103B4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33030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33AC8F8-4108-48FC-9303-B1F786C2BBE5}" type="datetimeFigureOut">
              <a:rPr lang="ru-RU" smtClean="0"/>
              <a:t>09.12.2021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91AEE-7BC3-4F0C-9639-F39C103B4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9409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33AC8F8-4108-48FC-9303-B1F786C2BBE5}" type="datetimeFigureOut">
              <a:rPr lang="ru-RU" smtClean="0"/>
              <a:t>09.12.2021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E4891AEE-7BC3-4F0C-9639-F39C103B4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60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655885" y="1236663"/>
            <a:ext cx="9144000" cy="2387600"/>
          </a:xfrm>
        </p:spPr>
        <p:txBody>
          <a:bodyPr>
            <a:normAutofit/>
          </a:bodyPr>
          <a:lstStyle/>
          <a:p>
            <a:pPr algn="ctr"/>
            <a:r>
              <a:rPr lang="ru-RU" i="1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GOST type A" panose="020B0500000000000000" pitchFamily="34" charset="0"/>
              </a:rPr>
              <a:t>Склад общего хранения</a:t>
            </a:r>
            <a:endParaRPr lang="ru-RU" i="1" dirty="0">
              <a:solidFill>
                <a:schemeClr val="accent2">
                  <a:lumMod val="20000"/>
                  <a:lumOff val="80000"/>
                </a:schemeClr>
              </a:solidFill>
              <a:latin typeface="GOST type A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207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32162" y="3526693"/>
            <a:ext cx="8825659" cy="3416300"/>
          </a:xfrm>
        </p:spPr>
        <p:txBody>
          <a:bodyPr>
            <a:normAutofit/>
          </a:bodyPr>
          <a:lstStyle/>
          <a:p>
            <a:r>
              <a:rPr lang="ru-RU" sz="6000" b="1" i="1" dirty="0" smtClean="0">
                <a:solidFill>
                  <a:srgbClr val="7030A0"/>
                </a:solidFill>
                <a:latin typeface="GOST type A" panose="020B0500000000000000" pitchFamily="34" charset="0"/>
              </a:rPr>
              <a:t>Актуальность</a:t>
            </a:r>
            <a:endParaRPr lang="ru-RU" sz="6000" b="1" i="1" dirty="0">
              <a:solidFill>
                <a:srgbClr val="7030A0"/>
              </a:solidFill>
              <a:latin typeface="GOST type A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8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186956" y="801077"/>
            <a:ext cx="9136552" cy="3463192"/>
          </a:xfrm>
        </p:spPr>
        <p:txBody>
          <a:bodyPr>
            <a:normAutofit/>
          </a:bodyPr>
          <a:lstStyle/>
          <a:p>
            <a:r>
              <a:rPr lang="ru-RU" sz="6000" b="1" i="1" dirty="0" smtClean="0">
                <a:solidFill>
                  <a:srgbClr val="7030A0"/>
                </a:solidFill>
                <a:latin typeface="GOST type A" panose="020B0500000000000000" pitchFamily="34" charset="0"/>
              </a:rPr>
              <a:t>Аналоги</a:t>
            </a:r>
            <a:endParaRPr lang="ru-RU" sz="6000" b="1" i="1" dirty="0">
              <a:solidFill>
                <a:srgbClr val="7030A0"/>
              </a:solidFill>
              <a:latin typeface="GOST type A" panose="020B0500000000000000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7940314" y="5916686"/>
            <a:ext cx="16298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GrossBee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941382" y="5947714"/>
            <a:ext cx="15536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dirty="0" err="1"/>
              <a:t>Openbravo</a:t>
            </a:r>
            <a:endParaRPr lang="ru-RU" i="1" dirty="0"/>
          </a:p>
          <a:p>
            <a:endParaRPr lang="ru-RU" dirty="0"/>
          </a:p>
        </p:txBody>
      </p:sp>
      <p:pic>
        <p:nvPicPr>
          <p:cNvPr id="11" name="Рисунок 10" descr="Программа Openbravo может устанавливаться на различные устройства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003" y="2620596"/>
            <a:ext cx="4549898" cy="3037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Рисунок 11" descr="Интерфейс системы управления предприятием &quot;GrossBee XXІ&quot;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6649" y="2768685"/>
            <a:ext cx="4083735" cy="29911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03150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43077" y="3324469"/>
            <a:ext cx="8825659" cy="3416300"/>
          </a:xfrm>
        </p:spPr>
        <p:txBody>
          <a:bodyPr>
            <a:normAutofit/>
          </a:bodyPr>
          <a:lstStyle/>
          <a:p>
            <a:pPr lvl="2"/>
            <a:r>
              <a:rPr lang="ru-RU" sz="6000" b="1" i="1" dirty="0" smtClean="0">
                <a:solidFill>
                  <a:srgbClr val="7030A0"/>
                </a:solidFill>
                <a:latin typeface="GOST type A" panose="020B0500000000000000" pitchFamily="34" charset="0"/>
              </a:rPr>
              <a:t>Цель и задачи</a:t>
            </a:r>
            <a:endParaRPr lang="ru-RU" sz="6000" b="1" i="1" dirty="0">
              <a:solidFill>
                <a:srgbClr val="7030A0"/>
              </a:solidFill>
              <a:latin typeface="GOST type A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12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429837" y="3081214"/>
            <a:ext cx="8825659" cy="3416300"/>
          </a:xfrm>
        </p:spPr>
        <p:txBody>
          <a:bodyPr>
            <a:normAutofit/>
          </a:bodyPr>
          <a:lstStyle/>
          <a:p>
            <a:r>
              <a:rPr lang="ru-RU" sz="6000" b="1" i="1" dirty="0" smtClean="0">
                <a:solidFill>
                  <a:srgbClr val="7030A0"/>
                </a:solidFill>
                <a:latin typeface="GOST type A" panose="020B0500000000000000" pitchFamily="34" charset="0"/>
              </a:rPr>
              <a:t>Степень решения поставленной задачи</a:t>
            </a:r>
            <a:endParaRPr lang="ru-RU" sz="6000" b="1" i="1" dirty="0">
              <a:solidFill>
                <a:srgbClr val="7030A0"/>
              </a:solidFill>
              <a:latin typeface="GOST type A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730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sun9-49.userapi.com/impg/QXfLZXkJ5-XDrZ2IHYCG87MSJamFUd9qbhXDjw/9NUM7Zgykjk.jpg?size=640x441&amp;quality=96&amp;sign=01474b540d3c9b955c4a16b2efbcfc55&amp;type=alb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929" y="2250831"/>
            <a:ext cx="3789487" cy="2611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4573283" y="3556428"/>
            <a:ext cx="3792050" cy="2518459"/>
          </a:xfrm>
          <a:prstGeom prst="rect">
            <a:avLst/>
          </a:prstGeom>
        </p:spPr>
      </p:pic>
      <p:pic>
        <p:nvPicPr>
          <p:cNvPr id="1028" name="Picture 4" descr="https://sun9-67.userapi.com/impg/VvHybSqcF8XjjzSbEs6yVwa8MKuiGhqFB-GOOw/6TYOcyaGEiM.jpg?size=209x73&amp;quality=96&amp;sign=d0f462b6401c3b0dc5236ad2571ffd47&amp;type=albu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3898" y="3915275"/>
            <a:ext cx="1280379" cy="447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sun9-87.userapi.com/impg/WHCR1lpIXN00SrQuiMXgnSft63CynJJFHNnrmA/O91_3VsXXBc.jpg?size=371x385&amp;quality=96&amp;sign=e0c5026ce106fb43cb737ba2ac69e170&amp;type=album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0449" y="2294449"/>
            <a:ext cx="2684516" cy="2785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5275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50708" y="3298093"/>
            <a:ext cx="8825659" cy="3416300"/>
          </a:xfrm>
        </p:spPr>
        <p:txBody>
          <a:bodyPr>
            <a:normAutofit/>
          </a:bodyPr>
          <a:lstStyle/>
          <a:p>
            <a:r>
              <a:rPr lang="ru-RU" sz="6000" b="1" i="1" dirty="0" smtClean="0">
                <a:solidFill>
                  <a:srgbClr val="7030A0"/>
                </a:solidFill>
                <a:latin typeface="GOST type A" panose="020B0500000000000000" pitchFamily="34" charset="0"/>
              </a:rPr>
              <a:t>Выводы и предложения</a:t>
            </a:r>
            <a:endParaRPr lang="ru-RU" sz="6000" b="1" i="1" dirty="0">
              <a:solidFill>
                <a:srgbClr val="7030A0"/>
              </a:solidFill>
              <a:latin typeface="GOST type A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247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79308" y="3236546"/>
            <a:ext cx="8825659" cy="3416300"/>
          </a:xfrm>
        </p:spPr>
        <p:txBody>
          <a:bodyPr>
            <a:normAutofit/>
          </a:bodyPr>
          <a:lstStyle/>
          <a:p>
            <a:r>
              <a:rPr lang="ru-RU" sz="6000" b="1" i="1" dirty="0" smtClean="0">
                <a:solidFill>
                  <a:srgbClr val="7030A0"/>
                </a:solidFill>
                <a:latin typeface="GOST type A" panose="020B0500000000000000" pitchFamily="34" charset="0"/>
              </a:rPr>
              <a:t>Спасибо за внимание</a:t>
            </a:r>
            <a:endParaRPr lang="ru-RU" sz="6000" b="1" i="1" dirty="0">
              <a:solidFill>
                <a:srgbClr val="7030A0"/>
              </a:solidFill>
              <a:latin typeface="GOST type A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491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Совет директоров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Совет директоров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вет директоров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62</TotalTime>
  <Words>21</Words>
  <Application>Microsoft Office PowerPoint</Application>
  <PresentationFormat>Широкоэкранный</PresentationFormat>
  <Paragraphs>9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Calibri</vt:lpstr>
      <vt:lpstr>Century Gothic</vt:lpstr>
      <vt:lpstr>GOST type A</vt:lpstr>
      <vt:lpstr>Times New Roman</vt:lpstr>
      <vt:lpstr>Wingdings 3</vt:lpstr>
      <vt:lpstr>Совет директоров</vt:lpstr>
      <vt:lpstr>Склад общего хранения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Построитель графиков функции на основе  windows api</dc:title>
  <dc:creator>Даниил Захаренков</dc:creator>
  <cp:lastModifiedBy>Даниил Захаренков</cp:lastModifiedBy>
  <cp:revision>7</cp:revision>
  <dcterms:created xsi:type="dcterms:W3CDTF">2021-05-27T13:53:03Z</dcterms:created>
  <dcterms:modified xsi:type="dcterms:W3CDTF">2021-12-09T17:02:23Z</dcterms:modified>
</cp:coreProperties>
</file>